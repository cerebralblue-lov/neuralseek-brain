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 loud / filings silent flags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FAA</c:v>
                  </c:pt>
                  <c:pt idx="1">
                    <c:v>Safety</c:v>
                  </c:pt>
                  <c:pt idx="2">
                    <c:v>Crash</c:v>
                  </c:pt>
                  <c:pt idx="3">
                    <c:v>Pilots</c:v>
                  </c:pt>
                  <c:pt idx="4">
                    <c:v>Flight</c:v>
                  </c:pt>
                  <c:pt idx="5">
                    <c:v>Airbus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Filings loud / web silent flags</c:v>
                </c:pt>
              </c:strCache>
            </c:strRef>
          </c:tx>
          <c:spPr>
            <a:solidFill>
              <a:srgbClr val="B4B4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BDS/BCA/BGS</c:v>
                  </c:pt>
                  <c:pt idx="1">
                    <c:v>Pension</c:v>
                  </c:pt>
                  <c:pt idx="2">
                    <c:v>Revenues</c:v>
                  </c:pt>
                  <c:pt idx="3">
                    <c:v>Deliveries</c:v>
                  </c:pt>
                  <c:pt idx="4">
                    <c:v>Backlog</c:v>
                  </c:pt>
                  <c:pt idx="5">
                    <c:v>Appropriations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buckets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0FF"/>
              </a:solidFill>
              <a:effectLst/>
            </c:spPr>
          </c:dPt>
          <c:dPt>
            <c:idx val="1"/>
            <c:bubble3D val="0"/>
            <c:spPr>
              <a:solidFill>
                <a:srgbClr val="101329"/>
              </a:solidFill>
              <a:effectLst/>
            </c:spPr>
          </c:dPt>
          <c:dPt>
            <c:idx val="2"/>
            <c:bubble3D val="0"/>
            <c:spPr>
              <a:solidFill>
                <a:srgbClr val="B4B4B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Both (near-parity)</c:v>
                </c:pt>
                <c:pt idx="1">
                  <c:v>Web-only (≥10x)</c:v>
                </c:pt>
                <c:pt idx="2">
                  <c:v>Filings-only (≥10x)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 doc-share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Safety</c:v>
                  </c:pt>
                  <c:pt idx="1">
                    <c:v>FAA</c:v>
                  </c:pt>
                  <c:pt idx="2">
                    <c:v>Crash*</c:v>
                  </c:pt>
                  <c:pt idx="3">
                    <c:v>737/MAX</c:v>
                  </c:pt>
                  <c:pt idx="4">
                    <c:v>Pilots*</c:v>
                  </c:pt>
                  <c:pt idx="5">
                    <c:v>Flight</c:v>
                  </c:pt>
                  <c:pt idx="6">
                    <c:v>Airbus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0.258</c:v>
                </c:pt>
                <c:pt idx="1">
                  <c:v>0.204</c:v>
                </c:pt>
                <c:pt idx="2">
                  <c:v>0.192</c:v>
                </c:pt>
                <c:pt idx="3">
                  <c:v>0.561</c:v>
                </c:pt>
                <c:pt idx="4">
                  <c:v>0.161</c:v>
                </c:pt>
                <c:pt idx="5">
                  <c:v>0.152</c:v>
                </c:pt>
                <c:pt idx="6">
                  <c:v>0.145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 doc-share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BDS/BCA/BGS</c:v>
                  </c:pt>
                  <c:pt idx="1">
                    <c:v>Pension+Postret</c:v>
                  </c:pt>
                  <c:pt idx="2">
                    <c:v>Revenues</c:v>
                  </c:pt>
                  <c:pt idx="3">
                    <c:v>Deliveries</c:v>
                  </c:pt>
                  <c:pt idx="4">
                    <c:v>Condensed</c:v>
                  </c:pt>
                  <c:pt idx="5">
                    <c:v>Backlog</c:v>
                  </c:pt>
                  <c:pt idx="6">
                    <c:v>Cancellations</c:v>
                  </c:pt>
                  <c:pt idx="7">
                    <c:v>Appropriations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0.297</c:v>
                </c:pt>
                <c:pt idx="1">
                  <c:v>0.208</c:v>
                </c:pt>
                <c:pt idx="2">
                  <c:v>0.142</c:v>
                </c:pt>
                <c:pt idx="3">
                  <c:v>0.084</c:v>
                </c:pt>
                <c:pt idx="4">
                  <c:v>0.078</c:v>
                </c:pt>
                <c:pt idx="5">
                  <c:v>0.052</c:v>
                </c:pt>
                <c:pt idx="6">
                  <c:v>0.024</c:v>
                </c:pt>
                <c:pt idx="7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score (approx)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Safety</c:v>
                  </c:pt>
                  <c:pt idx="1">
                    <c:v>FAA</c:v>
                  </c:pt>
                  <c:pt idx="2">
                    <c:v>Crash</c:v>
                  </c:pt>
                  <c:pt idx="3">
                    <c:v>Pilots</c:v>
                  </c:pt>
                  <c:pt idx="4">
                    <c:v>BDS/BCA/BGS</c:v>
                  </c:pt>
                  <c:pt idx="5">
                    <c:v>Pension+Postret</c:v>
                  </c:pt>
                  <c:pt idx="6">
                    <c:v>Revenues</c:v>
                  </c:pt>
                  <c:pt idx="7">
                    <c:v>Deliveries</c:v>
                  </c:pt>
                  <c:pt idx="8">
                    <c:v>737 MAX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1.3</c:v>
                </c:pt>
                <c:pt idx="2">
                  <c:v>1.3</c:v>
                </c:pt>
                <c:pt idx="3">
                  <c:v>1.3</c:v>
                </c:pt>
                <c:pt idx="4">
                  <c:v>1.3</c:v>
                </c:pt>
                <c:pt idx="5">
                  <c:v>1.3</c:v>
                </c:pt>
                <c:pt idx="6">
                  <c:v>1.3</c:v>
                </c:pt>
                <c:pt idx="7">
                  <c:v>1.3</c:v>
                </c:pt>
                <c:pt idx="8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 doc-share (selected)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Safety</c:v>
                  </c:pt>
                  <c:pt idx="1">
                    <c:v>FAA</c:v>
                  </c:pt>
                  <c:pt idx="2">
                    <c:v>Crash</c:v>
                  </c:pt>
                  <c:pt idx="3">
                    <c:v>Production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0.258</c:v>
                </c:pt>
                <c:pt idx="1">
                  <c:v>0.204</c:v>
                </c:pt>
                <c:pt idx="2">
                  <c:v>0.192</c:v>
                </c:pt>
                <c:pt idx="3">
                  <c:v>0.233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 doc-share (selected)</c:v>
                </c:pt>
              </c:strCache>
            </c:strRef>
          </c:tx>
          <c:spPr>
            <a:solidFill>
              <a:srgbClr val="B4B4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Pension+Postret</c:v>
                  </c:pt>
                  <c:pt idx="1">
                    <c:v>Segments</c:v>
                  </c:pt>
                  <c:pt idx="2">
                    <c:v>Deliveries</c:v>
                  </c:pt>
                  <c:pt idx="3">
                    <c:v>Production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0.208</c:v>
                </c:pt>
                <c:pt idx="1">
                  <c:v>0.297</c:v>
                </c:pt>
                <c:pt idx="2">
                  <c:v>0.084</c:v>
                </c:pt>
                <c:pt idx="3">
                  <c:v>0.182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9" Type="http://schemas.openxmlformats.org/officeDocument/2006/relationships/slide" Target="slide10.xml"/><Relationship Id="rId1" Type="http://schemas.openxmlformats.org/officeDocument/2006/relationships/image" Target="../media/image-3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4" Type="http://schemas.openxmlformats.org/officeDocument/2006/relationships/chart" Target="/ppt/charts/chart2.xml"/><Relationship Id="rId1" Type="http://schemas.openxmlformats.org/officeDocument/2006/relationships/image" Target="../media/image-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6" Type="http://schemas.openxmlformats.org/officeDocument/2006/relationships/chart" Target="/ppt/charts/chart3.xml"/><Relationship Id="rId1" Type="http://schemas.openxmlformats.org/officeDocument/2006/relationships/image" Target="../media/image-5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4" Type="http://schemas.openxmlformats.org/officeDocument/2006/relationships/chart" Target="/ppt/charts/chart4.xml"/><Relationship Id="rId1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5" Type="http://schemas.openxmlformats.org/officeDocument/2006/relationships/slide" Target="slide10.xml"/><Relationship Id="rId4" Type="http://schemas.openxmlformats.org/officeDocument/2006/relationships/chart" Target="/ppt/charts/chart5.xml"/><Relationship Id="rId1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1" Type="http://schemas.openxmlformats.org/officeDocument/2006/relationships/image" Target="../media/image-8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9" Type="http://schemas.openxmlformats.org/officeDocument/2006/relationships/slide" Target="slide10.xml"/><Relationship Id="rId6" Type="http://schemas.openxmlformats.org/officeDocument/2006/relationships/chart" Target="/ppt/charts/chart6.xml"/><Relationship Id="rId1" Type="http://schemas.openxmlformats.org/officeDocument/2006/relationships/image" Target="../media/image-9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9" Type="http://schemas.openxmlformats.org/officeDocument/2006/relationships/slide" Target="slide10.xml"/><Relationship Id="rId1" Type="http://schemas.openxmlformats.org/officeDocument/2006/relationships/image" Target="../media/image-10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edgar/browse/?CIK=12927" TargetMode="External"/><Relationship Id="rId2" Type="http://schemas.openxmlformats.org/officeDocument/2006/relationships/hyperlink" Target="https://www.sec.gov/ixviewer/documents/202405may15ex101.htm?doc=1" TargetMode="External"/><Relationship Id="rId3" Type="http://schemas.openxmlformats.org/officeDocument/2006/relationships/hyperlink" Target="https://www.sec.gov/edgar/search/#/q=non-U.S.%20customers%2046%25%20Boeing%2010-Q&amp;entityName=Boeing%20Co%20(BA)" TargetMode="External"/><Relationship Id="rId4" Type="http://schemas.openxmlformats.org/officeDocument/2006/relationships/hyperlink" Target="https://www.sec.gov/edgar/search/#/q=cybersecurity%20risk%20Boeing%2010-K&amp;entityName=Boeing%20Co%20(BA)" TargetMode="External"/><Relationship Id="rId5" Type="http://schemas.openxmlformats.org/officeDocument/2006/relationships/hyperlink" Target="https://leehamnews.com/2025/10/07/the-rise-and-fall-of-boeing-and-the-way-back/" TargetMode="External"/><Relationship Id="rId6" Type="http://schemas.openxmlformats.org/officeDocument/2006/relationships/hyperlink" Target="https://www.tradingview.com/news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pic>
        <p:nvPicPr>
          <p:cNvPr id="3" name="Image 0" descr="ITOCHU Corporat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82880"/>
            <a:ext cx="22860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7512" y="731520"/>
            <a:ext cx="1086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ITOCHU CORPORATION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743200" y="1188720"/>
            <a:ext cx="670255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" y="1417320"/>
            <a:ext cx="10863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— The Boeing Company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7512" y="292608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 (SEC Filings vs Public Web) — Cross-Validation + Anomaly Detection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0" y="3520440"/>
            <a:ext cx="670255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657600"/>
            <a:ext cx="1086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NeuralSeek | ITOCHU Corporation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Risk Surface from Filings vs Web (Normalized Evidence)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normalization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Corpora: SEC filings n=808 docs; public web n=442 docs (doc-frequency normalization).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Metric: Web/SEC ratio = (web doc share)/(SEC doc share); flags at ≥10x divergence.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(what is “loud”) 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Web-dominant narrative: FAA (0.204), Safety (0.258), Crash/Crashes (0.192), 737 MAX brand framing (0.561) — many effectively “≫10x” vs filings top-terms.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Filings-dominant narrative: segments (BDS/BCA/BGS combined 0.297), pension+postretirement (0.208), deliveries (0.084), backlog (0.052) — “≫10x” vs web top-terms.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Near-parity operational anchor: Production web=0.233 vs SEC=0.182 (Web/SEC=1.28x).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heatmap: selected terms (Web/SEC ratio)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4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Web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Web/SEC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737 MAX (max+737)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0.561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0.110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5.1x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Production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0.233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0.182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1.28x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MCAS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0.068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0.043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1.6x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Safety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~0*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0.204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~0*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split: “silent” topics by corpus (counts)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3849624"/>
          <a:ext cx="5239512" cy="23042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(SEC n=808; Web n=442),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SEC filings (10-K/10-Q) risk factor excerpts, 2024–2025.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Risks — Cross-Validated (SEC Filings vs Public Web)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approach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Severity scale: 1–5 (5=existential/large financial impact); Validation: SEC, Web, or Both.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uses normalized doc-share where available (e.g., Safety web=0.258; 737/MAX web=0.561 vs SEC “737”=0.110).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filing signals (risk factor excerpts)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Non‑U.S. revenue exposure: non‑U.S. customers ≈46% of total revenue; ≈70% of Commercial Airplanes revenue from customer contracts (tariffs/trade/government actions risk).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Cyber risk: supplier security standards; future incidents could materially affect strategy/results/financial condition (no guarantee of non-materiality).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Litigation/regulatory investigations/insurance adequacy/pension obligations highlighted as forward-looking risk factors.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risks table (severity + validation)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4818888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Sev(1-5)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Web validation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Product safety / quality incidents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Operational/Reputation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Safety=0.258; Crash=0.192 (≫10x vs SEC top)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Regulatory oversight (FAA actions)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Regulatory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FAA=0.204 (≫10x vs SEC top)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737 program concentration &amp; disruption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Program/Execution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737/MAX web=0.561 vs SEC “737”=0.110 (5.1x)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Litigation &amp; government investigations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Legal/Compliance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Web narrative; SEC notes legal proceedings contingencies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Cybersecurity (incl. suppliers)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Technology/Security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Web coverage episodic; SEC states could be material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International trade/tariffs &amp; geopolitics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Macro/Regulatory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SEC: non‑U.S. rev ≈46%; trade restrictions risk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Pension &amp; postretirement obligations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Balance sheet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SEC share=0.208; web top-terms ~0 (≫10x)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Liquidity / credit rating actions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Financial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SEC forward-looking risk list includes rating/liquidity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Order book conversion (deliveries/backlog/cancellations)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Demand/Execution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SEC deliveries=0.084; backlog=0.052; web top-terms ~0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0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Insurance coverage adequacy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Risk transfer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SEC forward-looking risk list includes insurance adequacy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(SEC n=808; Web n=442),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Form 10-Q (risk factor/forward-looking risk list), 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Form 10-Q (non‑U.S. revenue % disclosure), 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Form 10-K (cybersecurity risk discussion), 2024.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Summary — Agreement, Gaps, and Confidence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framework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Mapping: themes from SEC risk factor language + frequency anomalies from web.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tiers: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A) Both corpora salient (ratio 0.5–2.0): production/operations.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B) Web-only salient (≫10x): FAA/safety/crash framing.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C) Filing-only salient (≫10x): pension/segments/backlog/deliveries.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Purpose: identify “blind spots” where one channel under-signals.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coverage metrics (from provided terms)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loud/silent flags (≥10x): 6 terms explicitly listed (FAA, Safety, Crash/Crashes, Airbus, Pilots/Pilot, Flight).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Filings loud/silent flags (≥10x): 9 terms explicitly listed (BDS/BCA/BGS, Unallocated, Pension/Postretirement, Backlog, Revenues, Appropriations, Deliveries, Cancellations, Condensed).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term example: Production ratio=1.28x suggests both channels agree this is an active execution risk.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vs mismatch counts (illustrative from provided lists)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335024"/>
          <a:ext cx="5239512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matrix (how to action gaps)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Risk of omission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Next validation step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Web-only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High media/regulatory salience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Underestimating tail risk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Link to specific FAA actions/incident logs [5]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Filings-only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Balance-sheet/segment mechanics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Missing slow-burn financial drag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Quantify pension sensitivity &amp; liquidity triggers [2][4]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Both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Execution/production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Core cash-flow risk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Track deliveries/backlog + program disruptions [1][2]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(SEC n=808; Web n=442),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10-Q/10-K risk factor excerpts, 2024–2025.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 web narrative example (Leeham News), 2025.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Mismatches — Web-Only Risks (High Salience, Lower Filing Surface)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Web-only risk themes (normalized evidence)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FAA oversight: web share=90/442=0.204; absent in SEC top-terms ⇒ ≫10x loudness gap.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Safety: web share=114/442=0.258; absent in SEC top-terms ⇒ ≫10x.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Crash framing: (48+37)/442=0.192; pilots: (44+27)/442=0.161; flight: 67/442=0.152 — all ≫10x vs SEC top-terms.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(risk transmission)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scrutiny can convert to: production constraints, rework costs, delayed deliveries, and liquidity pressure.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Reputation/safety narratives can increase financing costs and constrain demand even without immediate filing prominence.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framing (Airbus web=64/442=0.145; ≫10x) can shift market-share expectations and pricing power.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Web-only risk intensity (doc-share)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335024"/>
          <a:ext cx="5239512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trigger example from filings (incident → FAA action)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Event/Control point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737-9 door plug detached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Jan 5, 2024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~220 aircraft affected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FAA grounding + inspections required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FAA enhanced inspection process approved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Jan 24, 2024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100% of grounded fleet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Incremental maintenance/inspection workload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(selected terms),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 (MD&amp;A incident description; fleet size ~220; FAA actions), 2024.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Mismatches — Filing-Only Risks (Financial/Structural Risks Under-Discussed on Web)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Filings-only topics (normalized evidence)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Segment structure dominates filings: (BDS 97 + BCA 73 + BGS 70)/808=0.297; web top-terms ~0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obligations: (Pension 90 + Postretirement 78)/808=0.208; web top-terms ~0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mechanics: Deliveries 68/808=0.084; Backlog 42/808=0.052; Cancellations 19/808=0.024 — web top-terms ~0.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funding: Appropriations 16/808=0.020 — web top-terms ~0.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materiality pathways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Pension/postretirement: long-duration liabilities can consume cash and pressure credit metrics; filings emphasize this even if web doesn’t.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Deliveries/backlog/cancellations: directly link to revenue recognition and cash conversion; low web salience increases investor blind-spot risk.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rating agency actions &amp; liquidity management explicitly included in filings forward-looking risks.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Filings-only intensity (SEC doc-share)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335024"/>
          <a:ext cx="5239512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Cross-check: which risks should be “web louder” but aren’t?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Web top-term presence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Follow-up question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Pension/Postretirement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0.208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Not in web top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Any actuarial/discount-rate shock?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Credit rating/liquidity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Qualitative risk list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Not in web top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Is spread widening visible in bonds?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Insurance adequacy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Qualitative risk list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Not in web top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Coverage gaps vs incident exposure?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Customer financing concentration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Qualitative risk list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Not in web top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Any concentrated counterparty stress?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(SEC shares table),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 forward-looking risks (rating/liquidity, pension, insurance, investigations), 2025.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Word-Frequency Anomalies — Quantifying Narrative Risk vs Disclosure Risk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“web louder” anomalies (selected terms)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FAA: 0.204 web share; ~0 SEC top share ⇒ ≫10x anomaly.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Safety: 0.258 web; ~0 SEC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Crash/Crashes: 0.192 web; ~0 SEC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737 MAX framing: 0.561 web vs “737” 0.110 SEC ⇒ 5.1x.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MCAS: 0.068 web vs 0.043 SEC proxy ⇒ 1.6x (moderate anomaly).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“filings louder” anomalies (selected terms)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Segments (BDS/BCA/BGS): 0.297 SEC; ~0 web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Pension+Postretirement: 0.208 SEC; ~0 web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Deliveries: 0.084 SEC; ~0 web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Backlog: 0.052 SEC; ~0 web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Revenues: 0.142 SEC; ~0 web top ⇒ ≫10x.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Appropriations: 0.020 SEC; ~0 web top ⇒ ≫10x.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score (log10 ratio; capped for “~0”)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335024"/>
          <a:ext cx="5239512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anomaly → monitoring signals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Anomaly type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Typical risk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Primary KPI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Escalation trigger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Web≫SEC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Reputation/regulatory shock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FAA actions; incident rate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New groundings/mandates; recurrent incidents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SEC≫Web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Slow-burn balance-sheet drag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Pension funding; liquidity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Rating watch; covenant/liquidity constraints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Parity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Execution cash flow risk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Production &amp; deliveries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Sustained delivery shortfall vs backlog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(normalized doc shares), 2026.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for Follow-Up — Prioritized Investigation Queue (Quant + Filing Hooks)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logic (triage)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 score = Severity (1–5) × Evidence gap factor.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Evidence gap factor: 2.0 for ≫10x mismatches; 1.5 for 3–10x; 1.0 for parity.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filing hooks (quant disclosures) where available: non‑U.S. revenue 46%; commercial airplanes non‑U.S. 70%; impacted 737-9 fleet ~220.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follow-ups (what to ask for / measure)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FAA/safety outlier: reconcile web salience (FAA 0.204; Safety 0.258) with quantified operational impact: inspection cadence, rework hours, delivery timing.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Pension/postretirement outlier: quantify cash contributions sensitivity to discount rates/inflation and implications for liquidity.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exposure: stress-test tariff/trade restriction scenarios on 46% non‑U.S. revenue base; assess export licensing/geopolitical constraints.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Cyber via suppliers: test supplier security-control adherence and incident response readiness (filings: “no guarantee” future incidents immaterial).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outlier queue (scored)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4"/>
        </p:xfrm>
        <a:graphic>
          <a:graphicData uri="http://schemas.openxmlformats.org/drawingml/2006/table">
            <a:tbl>
              <a:tblPr/>
              <a:tblGrid>
                <a:gridCol w="1047902"/>
                <a:gridCol w="1047902"/>
                <a:gridCol w="1047902"/>
                <a:gridCol w="1047902"/>
                <a:gridCol w="1047902"/>
              </a:tblGrid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Outlier topic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Sev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Quant anchor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FAA oversight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share=0.204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Safety narrative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share=0.258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Crash/incident framing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share=0.192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737 MAX brand/program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5.1x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0.561 vs SEC 0.110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Pension/postretirement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SEC share=0.208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Second-tier watchlist (scored)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047902"/>
                <a:gridCol w="1047902"/>
                <a:gridCol w="1047902"/>
                <a:gridCol w="1047902"/>
                <a:gridCol w="104790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Sev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Quant anchor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International tariffs/trade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Filing-driven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Non‑U.S. rev≈46%; BCA non‑U.S.≈70%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Deliveries/backlog/cancellations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≫10x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SEC deliveries=0.084; backlog=0.052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Cybersecurity (supply chain)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Filing-driven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Potentially material per 10-K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Liquidity/credit ratings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Filing-driven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Explicit risk factor list item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Insurance adequacy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Filing-driven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Explicit risk factor list item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 incident/FAA grounding details, 2024.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 non‑U.S. revenue disclosure, 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10-K cybersecurity risk discussion, 2024.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&amp; Governance Signals — Internal Controls, Legal Proceedings, and Cyber Oversight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control &amp; reporting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Disclosure: “No changes in internal control over financial reporting” during Q2 2025 that materially affected (or likely to) ICFR.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Interpretation: filing indicates stable ICFR; does not address operational quality controls—treat separately (web safety loudness suggests operational control scrutiny).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proceedings &amp; contingencies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states it is involved in “a number of legal proceedings”; contingencies referenced to Notes (10-Q note 18/19 per excerpt).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Forward-looking risk list includes: litigation/inquiries, environmental liabilities, climate change responses, insurance adequacy, and dilution from equity issuance.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governance signal (filings)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4"/>
        </p:xfrm>
        <a:graphic>
          <a:graphicData uri="http://schemas.openxmlformats.org/drawingml/2006/table">
            <a:tbl>
              <a:tblPr/>
              <a:tblGrid>
                <a:gridCol w="1746504"/>
                <a:gridCol w="1746504"/>
                <a:gridCol w="1746504"/>
              </a:tblGrid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Disclosure item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Filings stance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Residual risk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Supplier standards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Require industry-recognized security-control principles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Supplier heterogeneity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Incident history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Prior incidents not material (stated)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Non-stationary threat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Materiality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guarantee future incident not material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Tail risk persists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gap indicator (web vs filings)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3849624"/>
          <a:ext cx="5239512" cy="23042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 (ICFR; legal proceedings; forward-looking risks), 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10-K cybersecurity risk discussion, 2024.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summary, 2026.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Monitoring Dashboard — KPIs, Thresholds, and Data Feeds</a:t>
            </a:r>
            <a:endParaRPr lang="en-US" sz="1800" dirty="0"/>
          </a:p>
        </p:txBody>
      </p:sp>
      <p:pic>
        <p:nvPicPr>
          <p:cNvPr id="4" name="Image 0" descr="ITOCHU Corporatio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91440"/>
            <a:ext cx="23774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set aligned to anomalies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Web-driven risk KPIs: FAA enforcement actions count; safety incident rate proxy; sentiment on “crash/safety/FAA”.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Filing-driven KPIs: pension funded status/cash contribution; deliveries/backlog/cancellations; liquidity headroom and rating outlook.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early-warning indicators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parity (Web/SEC=1.28x) implies both channels track execution; treat as leading indicator for deliveries/backlog risk. </a:t>
            </a:r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revenue exposure (46% non‑U.S.; 70% of BCA rev from non‑U.S. customers): monitor tariff/trade restriction headlines and order actions by region. </a:t>
            </a:r>
            <a:endParaRPr lang="en-US" sz="1800" dirty="0"/>
          </a:p>
          <a:p>
            <a:pPr algn="l" indent="0" marL="0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thresholds (starter set; tune to policy)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4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Baseline (from data)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Amber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Safety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0.258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≥0.30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≥0.35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FAA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0.204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≥0.25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≥0.30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 Crash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0.192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≥0.22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Web/SEC Production ratio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1.28x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≥1.6x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≥2.0x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SEC Pension+Postret share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0.208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≥0.23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≥0.26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feeds &amp; cadence (operationalization)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309878"/>
                <a:gridCol w="1309878"/>
                <a:gridCol w="1309878"/>
                <a:gridCol w="1309878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SEC filings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Quarterly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Doc-share deltas; new risk text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Risk/IR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Web/news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Daily/weekly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Term shares; sentiment; FAA headlines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Risk/Comms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Internal ops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Weekly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Rework hours; inspection finds; delivery plan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Ops/QA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Liquidity; pension funding; rating signals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Treasury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Frequency divergence dataset summary (shares/ratios), 2026.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10-Q/10-K risk factor excerpts for liquidity/pension context, 2024–2025.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10-Q non‑U.S. revenue disclosure, 2025. </a:t>
            </a:r>
            <a:pPr algn="l" indent="0" marL="0">
              <a:buNone/>
            </a:pP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pPr algn="l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Leeham News web narrative example, 2025.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137160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630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Summary • SEC EDGAR / Derived counts • Mar 2026 • "Normalized keyword doc-share (SEC n=808; Web n=442) provided in prompt"
</a:t>
            </a:r>
            <a:pPr algn="l" indent="0" marL="0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10-Q / Filing Excerpts • SEC EDGAR (Boeing CIK 12927) • 2024–2025 • "Risk factors; legal proceedings; forward-looking risks; ICFR statement; Jan 2024 737-9 incident and FAA inspections"
</a:t>
            </a:r>
            <a:pPr algn="l" indent="0" marL="0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10-Q • SEC EDGAR • 2025 • "Non-U.S. customers accounted for ~46% of total revenues and ~70% of Commercial Airplanes revenue"
</a:t>
            </a:r>
            <a:pPr algn="l" indent="0" marL="0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10-K • SEC EDGAR • 2024 • "Cybersecurity risk governance; supplier security-control standards; no guarantee future incident not material"
</a:t>
            </a:r>
            <a:pPr algn="l" indent="0" marL="0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News Article • Leeham News and Analysis • Oct 2025 • "Excerpt: The Rise and Fall of Boeing and the Way Back" (public narrative: safety, MCAS, crashes, existential crisis)
</a:t>
            </a:r>
            <a:pPr algn="l" indent="0" marL="0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News Aggregation • TradingView/Reuters feed page • 2026 • "Example public-web financial news distribution channel (access controlled for some Reuters items)"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NeuralSeek | ITOCHU Corporation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ITOCHU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 — The Boeing Company — Risk Analysis (Cross-Validated with Anomaly Detection)</dc:title>
  <dc:subject>Comprehensive risk analysis with cross-validation and anomaly detection (SEC filings vs public web)</dc:subject>
  <dc:creator>NeuralSeek</dc:creator>
  <cp:lastModifiedBy>NeuralSeek</cp:lastModifiedBy>
  <cp:revision>1</cp:revision>
  <dcterms:created xsi:type="dcterms:W3CDTF">2026-03-30T15:32:58Z</dcterms:created>
  <dcterms:modified xsi:type="dcterms:W3CDTF">2026-03-30T15:32:58Z</dcterms:modified>
</cp:coreProperties>
</file>