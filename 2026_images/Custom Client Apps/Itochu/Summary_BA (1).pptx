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37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ln w="25400" cap="flat">
              <a:solidFill>
                <a:srgbClr val="0040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40FF"/>
              </a:solidFill>
              <a:ln w="9525" cap="flat">
                <a:solidFill>
                  <a:srgbClr val="0040F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62.286000000000001</c:v>
                </c:pt>
                <c:pt idx="1">
                  <c:v>66.608000000000004</c:v>
                </c:pt>
                <c:pt idx="2">
                  <c:v>77.793999999999997</c:v>
                </c:pt>
                <c:pt idx="3">
                  <c:v>66.516999999999996</c:v>
                </c:pt>
                <c:pt idx="4">
                  <c:v>89.462999999999994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C0-0541-8C12-B23BE2DE7F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 ('000)</c:v>
                </c:pt>
              </c:strCache>
            </c:strRef>
          </c:tx>
          <c:spPr>
            <a:solidFill>
              <a:srgbClr val="0040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</c:v>
                </c:pt>
                <c:pt idx="1">
                  <c:v>156</c:v>
                </c:pt>
                <c:pt idx="2">
                  <c:v>171</c:v>
                </c:pt>
                <c:pt idx="3">
                  <c:v>172</c:v>
                </c:pt>
                <c:pt idx="4">
                  <c:v>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7-4B4C-B849-000993F5EB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 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4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0A-C040-A688-4DF1FF8F87AF}"/>
              </c:ext>
            </c:extLst>
          </c:dPt>
          <c:dPt>
            <c:idx val="1"/>
            <c:bubble3D val="0"/>
            <c:spPr>
              <a:solidFill>
                <a:srgbClr val="B4B4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0A-C040-A688-4DF1FF8F87AF}"/>
              </c:ext>
            </c:extLst>
          </c:dPt>
          <c:cat>
            <c:strRef>
              <c:f>Sheet1!$A$2:$A$3</c:f>
              <c:strCache>
                <c:ptCount val="2"/>
                <c:pt idx="0">
                  <c:v>Non-U.S.</c:v>
                </c:pt>
                <c:pt idx="1">
                  <c:v>U.S.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0A-C040-A688-4DF1FF8F87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rgbClr val="0040FF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-10.707000000000001</c:v>
                </c:pt>
                <c:pt idx="1">
                  <c:v>4.2809999999999997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78-5A43-A1F8-291868F22C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</c:v>
                </c:pt>
              </c:strCache>
            </c:strRef>
          </c:tx>
          <c:spPr>
            <a:solidFill>
              <a:srgbClr val="101329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-12.178000000000001</c:v>
                </c:pt>
                <c:pt idx="1">
                  <c:v>2.6629999999999998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78-5A43-A1F8-291868F22C1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EAT (Net)</c:v>
                </c:pt>
              </c:strCache>
            </c:strRef>
          </c:tx>
          <c:spPr>
            <a:solidFill>
              <a:srgbClr val="B4B4B4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-11.817</c:v>
                </c:pt>
                <c:pt idx="1">
                  <c:v>2.2349999999999999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78-5A43-A1F8-291868F22C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040FF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66.516999999999996</c:v>
                </c:pt>
                <c:pt idx="1">
                  <c:v>89.462999999999994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63-CF40-9693-BCCA438B50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ln w="25400" cap="flat">
              <a:solidFill>
                <a:srgbClr val="0040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40FF"/>
              </a:solidFill>
              <a:ln w="9525" cap="flat">
                <a:solidFill>
                  <a:srgbClr val="0040FF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77.793999999999997</c:v>
                </c:pt>
                <c:pt idx="1">
                  <c:v>66.516999999999996</c:v>
                </c:pt>
                <c:pt idx="2">
                  <c:v>89.462999999999994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9C-3F41-A73A-0F6B7DF18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040FF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66.516999999999996</c:v>
                </c:pt>
                <c:pt idx="1">
                  <c:v>89.462999999999994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4-7648-AE21-89A71C7B9A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 Settlement ($B)</c:v>
                </c:pt>
              </c:strCache>
            </c:strRef>
          </c:tx>
          <c:spPr>
            <a:solidFill>
              <a:srgbClr val="B4B4B4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2022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74-7648-AE21-89A71C7B9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591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uters.com/business/aerospace-defense/" TargetMode="External"/><Relationship Id="rId13" Type="http://schemas.openxmlformats.org/officeDocument/2006/relationships/hyperlink" Target="https://www.sec.gov/Archives/edgar/data/12927/" TargetMode="External"/><Relationship Id="rId3" Type="http://schemas.openxmlformats.org/officeDocument/2006/relationships/hyperlink" Target="https://www.macrotrends.net/stocks/charts/BA/boeing/revenue" TargetMode="External"/><Relationship Id="rId7" Type="http://schemas.openxmlformats.org/officeDocument/2006/relationships/hyperlink" Target="https://investors.boeing.com/investors/reports" TargetMode="External"/><Relationship Id="rId12" Type="http://schemas.openxmlformats.org/officeDocument/2006/relationships/hyperlink" Target="https://www.cpajournal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paniesmarketcap.com/boeing/number-of-employees/" TargetMode="External"/><Relationship Id="rId11" Type="http://schemas.openxmlformats.org/officeDocument/2006/relationships/hyperlink" Target="https://www.sec.gov/newsroom/press-releases/2022-170" TargetMode="External"/><Relationship Id="rId5" Type="http://schemas.openxmlformats.org/officeDocument/2006/relationships/hyperlink" Target="https://www.sec.gov/cgi-bin/browse-edgar?action=getcompany&amp;CIK=0000012927&amp;type=10-q" TargetMode="External"/><Relationship Id="rId10" Type="http://schemas.openxmlformats.org/officeDocument/2006/relationships/hyperlink" Target="https://www.prnewswire.com/news-releases/boeing-completes-acquisition-of-spirit-aerosystems-302000000.html" TargetMode="External"/><Relationship Id="rId4" Type="http://schemas.openxmlformats.org/officeDocument/2006/relationships/hyperlink" Target="https://www.sec.gov/ixviewer/documents/2024_10k_boeing.htm" TargetMode="External"/><Relationship Id="rId9" Type="http://schemas.openxmlformats.org/officeDocument/2006/relationships/hyperlink" Target="https://www.sec.go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ITOCHU Corporation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884" y="182880"/>
            <a:ext cx="1024328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7512" y="731520"/>
            <a:ext cx="10863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ITOCHU CORPORATION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743200" y="1188720"/>
            <a:ext cx="670255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7512" y="1417320"/>
            <a:ext cx="10863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— The Boeing Company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67512" y="292608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Equity Research Executive Summary (Financials • Strategy • Risks)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0" y="3520440"/>
            <a:ext cx="670255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3657600"/>
            <a:ext cx="10863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NeuralSeek | ITOCHU Corporation |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Snapshot — Scale, Cyclicality, and Rebuild Narrative</a:t>
            </a:r>
            <a:endParaRPr lang="en-US" sz="1800" dirty="0"/>
          </a:p>
        </p:txBody>
      </p:sp>
      <p:pic>
        <p:nvPicPr>
          <p:cNvPr id="4" name="Image 0" descr="ITOCHU Corporation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69415" y="91440"/>
            <a:ext cx="104101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(Executive Summary)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Revenue recovery: $89.463B FY2025 vs $66.517B FY2024 (+34.5% YoY), after -14.5% in FY2024.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risk overhang remains: safety/quality failures, regulatory scrutiny, and litigation/government actions cited as key risk factors.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International exposure is material: non-U.S. customers ~46% of total revenue in 2024; commercial airplane contracts ~70% non-U.S. in 2024.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Focus &amp; Near-Term Debate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Management cites continuing production disruptions/inefficiencies from technical challenges, supplier disruption, and factory performance—drivers of charges and cash flow pressure.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Workforce scaling: 172,000 employees in 2024 (+0.58% YoY); 182,000 as of Dec 31, 2025 (+5.81% YoY) indicating ramp/absorption risk.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2024 operational event: FAA grounded ~220 737-9 aircraft and required inspections; enhanced process approved Jan 24, 2024.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Trajectory (FY2021–FY2025, $B)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217920" y="1335024"/>
          <a:ext cx="5239512" cy="206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Count (FY2021–FY2025, '000)</a:t>
            </a:r>
            <a:endParaRPr lang="en-US" sz="14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217920" y="3849624"/>
          <a:ext cx="5239512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Macrotrends Revenue, accessed 2026.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FY2024 Form 10-K risk/MD&amp;A excerpts.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Form 10-Q (risk factor update: non-U.S. revenue mix).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Macrotrends &amp; CompaniesMarketCap employee counts.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Form 10-Q (737-9 door plug event/FAA actions).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 — Business Segments and Global Footprint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Segment Structure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reportable segments: Commercial Airplanes (BCA), Defense/Space/Security (BDS), Global Services (BGS).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BCA: develops/produces/markets commercial jetliners for global airlines; exposed to delivery rates, quality, supplier health, and certifications.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BDS + BGS diversify end-markets but still exposed to fixed-price contract estimation risk and program charges.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Exposure &amp; Demand Drivers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Non-U.S. revenue is structural: ~46% of total revenues in 2024 from non-U.S. customers; ~70% of Commercial Airplanes contract revenue in 2024 from non-U.S. customers.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Trade restrictions/tariffs and government actions are explicitly cited risks for Boeing given international sales concentration.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Competitive context: Airbus reported ~55% market share in mainland China and &gt;2,200 aircraft in-service fleet in Chinese mainland (pressure on Boeing in China).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Mix Exposure (2024, % of total)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217920" y="1335024"/>
          <a:ext cx="5239512" cy="206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Scale Indicators (Public Data)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49624"/>
          <a:ext cx="5239512" cy="2304290"/>
        </p:xfrm>
        <a:graphic>
          <a:graphicData uri="http://schemas.openxmlformats.org/drawingml/2006/table">
            <a:tbl>
              <a:tblPr/>
              <a:tblGrid>
                <a:gridCol w="1309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Δ YoY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 ($B)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66.517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89.463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+34.5%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Employees ('000)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172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182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+5.8%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Revenue/Employee ($)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≈386,700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≈491,600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+27.1%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Non-U.S. Revenue Share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46%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10-Q risk factor update (non-U.S. mix).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FY2024 Form 10-K (segments).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Macrotrends revenue.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Macrotrends &amp; CompaniesMarketCap employees.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Reuters (via article excerpt) on China market share dynamics.</a:t>
            </a:r>
            <a:endParaRPr lang="en-US" sz="1800" dirty="0"/>
          </a:p>
        </p:txBody>
      </p:sp>
      <p:pic>
        <p:nvPicPr>
          <p:cNvPr id="15" name="Image 0" descr="ITOCHU Corporation logo">
            <a:extLst>
              <a:ext uri="{FF2B5EF4-FFF2-40B4-BE49-F238E27FC236}">
                <a16:creationId xmlns:a16="http://schemas.microsoft.com/office/drawing/2014/main" id="{60DBEE48-53CA-F10E-5DA4-D2D42E216B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69415" y="91440"/>
            <a:ext cx="104101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Metrics (Provided Dataset) — FY2024 vs FY2025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P&amp;L Line Items — Key Watchouts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 shows revenue swing from -$1.991B (FY2024) to $4.289B (FY2025); sign change suggests data extraction/mapping differences vs public consolidated revenue.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FY2025 operating profit $4.281B vs FY2024 operating profit -$10.707B (Δ +$14.988B).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Profitability recovery indicated by ROE +10.4% FY2025 vs -62.3% FY2024; ROA +1.3% vs -7.6%.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 — Negative Gross Profit Flags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 indicates COGS &gt; revenue: FY2025 COGS $85.174B vs revenue $4.289B; FY2024 COGS $68.508B vs revenue -$1.991B → negative gross profit both years (FY2025: -$80.885B).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Interpretation: likely non-GAAP aggregation, segment-level mapping, or units inconsistency; treat as directional deltas only until reconciled to filing totals.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Statement &amp; Returns (Dataset)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35024"/>
          <a:ext cx="5239512" cy="2066540"/>
        </p:xfrm>
        <a:graphic>
          <a:graphicData uri="http://schemas.openxmlformats.org/drawingml/2006/table">
            <a:tbl>
              <a:tblPr/>
              <a:tblGrid>
                <a:gridCol w="1309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Metric ($, unless %)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Δ YoY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-1.991B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4.289B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+6.280B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COGS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68.508B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85.174B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+16.666B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Gross Profit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-70.499B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-80.885B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-10.386B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SG&amp;A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10.042B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12.180B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+2.138B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Operating Profit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-10.707B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4.281B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+14.988B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EBIT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-12.178B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2.663B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+14.841B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EBT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-12.210B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2.635B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+14.845B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EAT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-11.817B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2.235B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+14.052B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ROA / ROE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-7.6% / -62.3%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1.3% / 10.4%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+8.9pp / +72.7pp</a:t>
                      </a:r>
                      <a:endParaRPr lang="en-US" sz="7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Bridge (Dataset, $B)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217920" y="3849624"/>
          <a:ext cx="5239512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Provided financial metrics dataset (FY2021–FY2025 line items incl. ROA/ROE).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FY2024 Form 10-K (segment and reporting context).</a:t>
            </a:r>
            <a:endParaRPr lang="en-US" sz="1800" dirty="0"/>
          </a:p>
        </p:txBody>
      </p:sp>
      <p:pic>
        <p:nvPicPr>
          <p:cNvPr id="15" name="Image 0" descr="ITOCHU Corporation logo">
            <a:extLst>
              <a:ext uri="{FF2B5EF4-FFF2-40B4-BE49-F238E27FC236}">
                <a16:creationId xmlns:a16="http://schemas.microsoft.com/office/drawing/2014/main" id="{DE3D4347-DCE1-EA40-9444-2A3CE56B03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69415" y="91440"/>
            <a:ext cx="104101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Market Approach — Supply Chain Integration and Global Demand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Strategy: Stabilize Quality + Throughput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Management highlights ongoing production disruptions/inefficiencies from technical challenges, supplier disruption and factory performance—linked to program charges and expected cash flow impacts.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2024 FAA grounding and inspection regime for 737-9 door plug issue underscores regulator-driven cadence risk and heightened inspection requirements.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Move: Spirit AeroSystems Acquisition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Boeing completed acquisition of Spirit AeroSystems (Dec 8, 2025), bringing key 737 fuselage work and major structures in-house; positioned as strengthening production/supply chain stability and safety/quality focus.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execution risk: aligning commercial operations under BCA while keeping defense programs independent; potential near-term disruption despite strategic rationale.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Revenue Growth vs Prior Year ($B)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217920" y="1335024"/>
          <a:ext cx="5239512" cy="2066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Catalysts / Headwinds (Selected Quant)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49624"/>
          <a:ext cx="5239512" cy="2304290"/>
        </p:xfrm>
        <a:graphic>
          <a:graphicData uri="http://schemas.openxmlformats.org/drawingml/2006/table">
            <a:tbl>
              <a:tblPr/>
              <a:tblGrid>
                <a:gridCol w="174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Quant / Detail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Implication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Intl. exposure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Non-U.S. rev ~46% (2024)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Tariff/geo risk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Fleet event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~220 737-9 grounded (Jan 2024)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Output/inspection drag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Supply chain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Spirit acquired (Dec 2025)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Stability; integration risk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Workforce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Employees +10k to 182k (2025)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Training/quality risk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Macrotrends revenue.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FY2024 10-K (production disruptions; contract risk).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10-Q (737-9 FAA actions).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PRNewswire (Spirit acquisition).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10-Q (non-U.S. revenue share).</a:t>
            </a:r>
            <a:endParaRPr lang="en-US" sz="1800" dirty="0"/>
          </a:p>
        </p:txBody>
      </p:sp>
      <p:pic>
        <p:nvPicPr>
          <p:cNvPr id="15" name="Image 0" descr="ITOCHU Corporation logo">
            <a:extLst>
              <a:ext uri="{FF2B5EF4-FFF2-40B4-BE49-F238E27FC236}">
                <a16:creationId xmlns:a16="http://schemas.microsoft.com/office/drawing/2014/main" id="{BC6EE5DE-E09C-8809-A26B-5F0A161DA8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69415" y="91440"/>
            <a:ext cx="104101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(Top 10) — Cross-Validated from Filings and External Reporting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Risks — What Can Break the Thesis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Safety/quality failures → production halts &amp; certification delays (incl. 737-9 inspection regime).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Legal proceedings / contingencies (ongoing matters referenced to notes).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International sales concentration: non-U.S. revenue ~46% (2024) → tariffs/trade restrictions/government actions.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Supply chain disruption &amp; factory performance issues driving charges and adverse cash flow.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Fixed-price contract estimation risk &amp; reach-forward losses; pricing penalties/incentives.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Risks — Balance Sheet &amp; Governance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Credit rating / liquidity management risk flagged in filings.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7) Pension and postretirement obligations (material).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8) Cybersecurity incidents (incl. supply chain) could materially impact operations/financials.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9) Customer &amp; aircraft concentration in customer financing portfolio; redeployment risk on default/non-renewal.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[13]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10) Governance/culture failures → regulatory penalties &amp; investor claims; SEC cited misleading statements on 737 MAX safety (settlement).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[14]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Heatmap (Qualitative; 10=High)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35024"/>
          <a:ext cx="5239512" cy="2066544"/>
        </p:xfrm>
        <a:graphic>
          <a:graphicData uri="http://schemas.openxmlformats.org/drawingml/2006/table">
            <a:tbl>
              <a:tblPr/>
              <a:tblGrid>
                <a:gridCol w="1309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9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Safety/quality/regulatory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Groundings/inspections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Supply chain &amp; production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Charges/cash flow risk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Litigation/government actions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Ongoing proceedings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Intl. trade/geopolitics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46% non-U.S. rev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Liquidity/ratings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Funding cost sensitivity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Quant Anchors (from sources)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3849624"/>
          <a:ext cx="5239512" cy="2304288"/>
        </p:xfrm>
        <a:graphic>
          <a:graphicData uri="http://schemas.openxmlformats.org/drawingml/2006/table">
            <a:tbl>
              <a:tblPr/>
              <a:tblGrid>
                <a:gridCol w="174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Anchor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Non-U.S. revenue mix (2024)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46% of total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Trade/tariff sensitivity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Non-U.S. BCA contract revenue (2024)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≈70%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Delivery/geopolitical risk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737-9 in-service fleet affected (Jan 2024)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≈220 aircraft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Output/inspection constraints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FY2025 revenue (Macrotrends)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$89.463B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Scale &amp; recovery baseline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Employees (Dec 31, 2025)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182,000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Ramp + training load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FY2024 10-K (production/contract risks).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10-Q (non-U.S. revenue shares).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10-Q (737-9 FAA actions).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FY2024 10-K (cybersecurity).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[14]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 press release (737 MAX disclosures settlement).</a:t>
            </a:r>
            <a:endParaRPr lang="en-US" sz="1800" dirty="0"/>
          </a:p>
        </p:txBody>
      </p:sp>
      <p:pic>
        <p:nvPicPr>
          <p:cNvPr id="15" name="Image 0" descr="ITOCHU Corporation logo">
            <a:extLst>
              <a:ext uri="{FF2B5EF4-FFF2-40B4-BE49-F238E27FC236}">
                <a16:creationId xmlns:a16="http://schemas.microsoft.com/office/drawing/2014/main" id="{2CAFBB35-AB41-65DC-AF5F-D67AB903E6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69415" y="91440"/>
            <a:ext cx="104101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Mismatches &amp; Monitoring Plan — Where Narrative vs Evidence Diverges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 #1–#3: Quality Rebuild vs Ongoing Disruption Signals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(1) Quality narrative vs regulatory actions: FAA grounded ~220 737-9 and required enhanced inspection process (Jan 2024).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(2) Supplier stability vs continuing disruption: filings cite supplier disruption and factory performance issues as drivers of charges and adverse future cash flows.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(3) Workforce growth vs execution: employees rose to 182k in 2025 (+10k YoY), raising training/competency risk during ramp.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 #4–#6: Demand/Backlog vs Geopolitics and Competition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(4) Global demand vs trade friction: non-U.S. revenue ~46% and explicitly cited risks from tariffs/trade restrictions/government actions.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(5) China growth optionality vs Airbus incumbency: Airbus reported ~55% share and &gt;2,200 aircraft in-service in mainland China, challenging Boeing’s recapture path.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(6) Short-cycle revenue recovery vs long-cycle cash conversion risk: fixed-price contract cost estimates and performance incentives/penalties can swing margins materially.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Dashboard (KPIs and Triggers)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35024"/>
          <a:ext cx="5239512" cy="2066544"/>
        </p:xfrm>
        <a:graphic>
          <a:graphicData uri="http://schemas.openxmlformats.org/drawingml/2006/table">
            <a:tbl>
              <a:tblPr/>
              <a:tblGrid>
                <a:gridCol w="174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Current Anchor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 growth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+34.5% (FY25)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Sustained &gt;10% YoY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Workforce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182k (FY25)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Quality escapes ↑ with headcount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Intl exposure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46% non-U.S. (2024)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Tariff/trade escalation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Regulatory events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~220 grounded (Jan 2024)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New AD/grounding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Supply chain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Spirit integrated (Dec 2025)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Delivery delays/charges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Context (Macrotrends, $B)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217920" y="3849624"/>
          <a:ext cx="5239512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Macrotrends revenue.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FY2024 10-K (production disruptions; fixed-price contract risks).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10-Q (non-U.S. revenue mix).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10-Q (737-9 FAA actions).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Reuters (via article excerpt) on Airbus China share.</a:t>
            </a:r>
            <a:endParaRPr lang="en-US" sz="1800" dirty="0"/>
          </a:p>
        </p:txBody>
      </p:sp>
      <p:pic>
        <p:nvPicPr>
          <p:cNvPr id="15" name="Image 0" descr="ITOCHU Corporation logo">
            <a:extLst>
              <a:ext uri="{FF2B5EF4-FFF2-40B4-BE49-F238E27FC236}">
                <a16:creationId xmlns:a16="http://schemas.microsoft.com/office/drawing/2014/main" id="{260C0B5E-5405-7BDC-123A-518561509E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69415" y="91440"/>
            <a:ext cx="104101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7512" y="13716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 — Regulatory, Legal, and Disclosure Items (Selected)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7512" y="1005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Oversight &amp; Operational Incidents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" y="1371600"/>
            <a:ext cx="5303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737-9 door plug incident: FAA grounded and required inspections for majority of ~220 737-9 aircraft in service; enhanced inspection process approved Jan 24, 2024.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 reporting: 10-Q states no changes in ICFR during Q2 2025 materially affecting controls; legal proceedings referenced to notes.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" y="3520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/ Enforcement: Investor Communication Risk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886200"/>
            <a:ext cx="53035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 enforcement action: SEC press release (Sept 22, 2022) states Boeing and CEO misled investors </a:t>
            </a: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aberout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737 MAX safety; $200M settlement. </a:t>
            </a: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[14]</a:t>
            </a:r>
            <a:endParaRPr lang="en-US" sz="18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External governance critique notes alleged board oversight failures and whistleblower-related claims (context for reputational/monitor risk). 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[15]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 / Event Reference Points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35024"/>
          <a:ext cx="5239512" cy="2066545"/>
        </p:xfrm>
        <a:graphic>
          <a:graphicData uri="http://schemas.openxmlformats.org/drawingml/2006/table">
            <a:tbl>
              <a:tblPr/>
              <a:tblGrid>
                <a:gridCol w="174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Detail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3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3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10-K (FY2024)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Filed 2025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Production/supplier disruptions; cyber; portfolio concentration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3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10-Q (2025)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Filed 2025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Intl revenue mix; ICFR update; legal proceedings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3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737-9 event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Jan 2024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≈220 aircraft grounded/inspected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3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8-K Earnings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Jan 27, 2026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FY2025 Q4 results press release furnished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217920" y="35204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Recovery vs Enforcement Overhang (Context)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217920" y="3849624"/>
          <a:ext cx="5239512" cy="230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8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10-Q (737-9 FAA actions).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Boeing 2025 10-Q (ICFR; legal proceedings).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[14]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 Press Release 2022-170. </a:t>
            </a:r>
            <a:r>
              <a:rPr lang="en-US" sz="7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[16]</a:t>
            </a: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 EDGAR 8-K (Jan 27, 2026) results release reference.</a:t>
            </a:r>
            <a:endParaRPr lang="en-US" sz="1800" dirty="0"/>
          </a:p>
        </p:txBody>
      </p:sp>
      <p:pic>
        <p:nvPicPr>
          <p:cNvPr id="15" name="Image 0" descr="ITOCHU Corporation logo">
            <a:extLst>
              <a:ext uri="{FF2B5EF4-FFF2-40B4-BE49-F238E27FC236}">
                <a16:creationId xmlns:a16="http://schemas.microsoft.com/office/drawing/2014/main" id="{9339F521-4738-E55A-93BF-14E8866380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69415" y="91440"/>
            <a:ext cx="104101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38100">
            <a:solidFill>
              <a:srgbClr val="004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67512" y="137160"/>
            <a:ext cx="10863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Sources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7512" y="1371600"/>
            <a:ext cx="108630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Provider • Macrotrends • Accessed 2026 • "Boeing Revenue 2012-2025"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10-K • U.S. SEC EDGAR / The Boeing Company • FY2024 filing (2025) • "The Boeing Company Form 10-K (year ended Dec 31, 2024)"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10-Q • U.S. SEC EDGAR / The Boeing Company • 2025 • "Form 10-Q (2025) — Risk factor update incl. non-U.S. revenue shares"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Provider • CompaniesMarketCap • Accessed 2026 • "The Boeing Company (BA) Number of Employees 1994-2025"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10-Q • U.S. SEC EDGAR / The Boeing Company • 2025 • "MD&amp;A: Jan 2024 737-9 door plug incident; FAA grounding/inspection process"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IR Portal • Boeing Investors • Accessed 2026 • "Reports (Annual Reports, Quarterly Reports, SEC Filings)"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News Article • Reuters • 2025 • "China/competition context (Airbus ~55% China share; &gt;2,200 in-service fleet)" 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 • Provided by User Context • 2021–2025 • "Financial Metrics (Revenue, COGS, EBITDA, EAT, ROA/ROE, etc.)"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Press Release • PRNewswire / Boeing • Dec 2025 • "Boeing Completes Acquisition of Spirit AeroSystems"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[10]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10-Q • U.S. SEC EDGAR / The Boeing Company • 2025 • "Legal proceedings and ICFR statement"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10-K • U.S. SEC EDGAR / The Boeing Company • FY2024 filing (2025) • "Risk factors: liquidity/ratings, pensions, insurance, dilution"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10-K • U.S. SEC EDGAR / The Boeing Company • FY2024 filing (2025) • "Cybersecurity risk discussion"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[13]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10-K • U.S. SEC EDGAR / The Boeing Company • FY2024 filing (2025) • "Customer financing portfolio concentration risk"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[14]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Press Release • U.S. SEC • Sep 2022 • "Boeing to Pay $200 Million to Settle SEC Charges that it Misled Investors about the 737 MAX"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[15]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Article • The CPA Journal • 2024 • "The Story of Boeing's Failed Corporate Culture" (governance/whistleblower/regulatory context)
</a:t>
            </a:r>
            <a:r>
              <a:rPr lang="en-US" sz="1200" b="1" u="sng" dirty="0">
                <a:solidFill>
                  <a:srgbClr val="0040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[16]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8-K • U.S. SEC EDGAR / The Boeing Company • Jan 2026 • "Current Report on Form 8-K (FY2025 Q4 results press release furnished)"
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" y="6291072"/>
            <a:ext cx="10863072" cy="0"/>
          </a:xfrm>
          <a:prstGeom prst="line">
            <a:avLst/>
          </a:prstGeom>
          <a:noFill/>
          <a:ln w="1270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6318504"/>
            <a:ext cx="10863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NeuralSeek | ITOCHU Corporation |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2772</Words>
  <Application>Microsoft Macintosh PowerPoint</Application>
  <PresentationFormat>Widescreen</PresentationFormat>
  <Paragraphs>276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ITOCHU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 — The Boeing Company — Comprehensive Equity Research Executive Summary</dc:title>
  <dc:subject>Comprehensive company analysis with financial metrics, strategy, and risk analysis</dc:subject>
  <dc:creator>NeuralSeek</dc:creator>
  <cp:lastModifiedBy>lawrence patrizio</cp:lastModifiedBy>
  <cp:revision>2</cp:revision>
  <dcterms:created xsi:type="dcterms:W3CDTF">2026-03-30T15:31:30Z</dcterms:created>
  <dcterms:modified xsi:type="dcterms:W3CDTF">2026-05-15T11:01:49Z</dcterms:modified>
</cp:coreProperties>
</file>