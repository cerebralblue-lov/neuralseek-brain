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22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06"/>
    <p:restoredTop sz="94628"/>
  </p:normalViewPr>
  <p:slideViewPr>
    <p:cSldViewPr snapToGrid="0">
      <p:cViewPr>
        <p:scale>
          <a:sx n="58" d="100"/>
          <a:sy n="58" d="100"/>
        </p:scale>
        <p:origin x="3624" y="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EB136-C46D-B4F4-DE09-E5938EE90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4A522-B6CD-E8E0-F5F7-311759671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255AA-1067-5241-B39C-028AF8711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E799C-F949-7DD1-3771-732CCB4C0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AF4FB-9EA6-E1AE-AC85-019D4FE9D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00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E3F7D-2889-54C3-92D9-81A941F3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16D7B-3025-70EA-1BED-63665EEF5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261B1-0407-828B-D592-EE160E619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F5A2A-F4ED-F0B2-0D73-B9FF9E8C0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08688-5C2D-1D9A-4DD0-C6B2855E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35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05E0-A279-A4AA-7B6D-9B1FCF7F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035D6-DD04-A16D-AEC8-1BC3FD3B2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D6F5-9493-B1F6-1C49-8A1526BC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0D766-0223-2FF1-1F63-AB8EE3BE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5876F-5B47-0009-21C2-F51D1ADD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6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D4A25-DC44-54D1-551E-FBD8031D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C2027-329E-FC41-B526-63E8672CC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7EEAE-E853-1774-0A51-CD4F3F874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D76C3-899D-4FDE-86D2-F7B13E8B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2B8AE-25C4-21C9-2D3A-27BE640D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DEF62-9CBA-D5B7-B069-D8D173E2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31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1FA5E-2CEB-BA49-3B22-5C476B86B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E9746-E774-B198-EE20-744900920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609B9-7DDA-3455-F99B-935C006F2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5377E5-A26F-5369-24B3-BF8CE4BC3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2935D-4E0E-9581-44F0-E3E5DE0B6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49295C-07F0-F42B-3DDD-B54DADBB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6C0ADF-4CF8-3D13-9021-A5F74C3B6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D72DAE-24AD-DA38-AE78-3A5B4ADE4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22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696EB-FFAA-9D23-C10A-0373F13D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6D66AA-A8DA-6150-CB4C-D27365298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A0433-78D1-B1BB-4952-F577D02A5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4FA64-60CB-FA0A-DEDD-1D63970E2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C38F5-365D-7A91-6CD2-425761D9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04B2E-4182-B232-316D-4AE2AD801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F586B-53C8-1136-CE36-1377B785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45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39C7B-0B37-9352-7CDE-C3BBF5AB6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C53CC-AB1C-8CDC-3141-252FD9860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A75E8-D26E-7EA6-1E0F-E36C53B4E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84DA5-7805-5A8E-7853-91712D70B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2C08A-4ECE-084A-C5F8-748EE25D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9649F-5404-D79E-A415-7615B695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2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AEF00-4D83-F83A-9B57-6019CE3B8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181AC8-4076-C56C-C2C1-D98606DDA7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C550B-571D-3420-61DA-B159DE20B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15682-1C91-89F3-B3C9-AA4D58B4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1E6C7-7EEF-E829-DA8D-FE45F3AA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D8C38-C81E-B150-5BBC-CD1699AF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02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3251-C2A6-94B1-AFE7-1E0DA95A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B6C7E-109E-D1DC-D7BC-077562EB2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50B3B-E0B1-D999-020F-849D861A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D59A9-8CDF-8043-1B86-42A9DF493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29718-8868-A7C8-9564-AA9A653E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6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E82DD-E056-0E57-ABB1-CAE7ACA2B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3EE30-BCA5-AE65-B74C-9BA3C71AD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F85FE-AA1C-33A4-13B3-02F8214F3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41B96-330F-1057-C552-044AA671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4CA81-60B8-4250-8793-251CB2B5E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5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F28CB9-165C-8132-3DB3-6A03E0F5F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B6B66-D36F-5AE5-E80A-953DA158B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AE5B8-F8B4-7AA5-C9FE-CD734C607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1C247-84F2-BF43-AE61-E685059F28D3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38DE0-DB7E-8C4A-0B25-8EB10281D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F972F-155F-EB8F-E3FC-F12B41E60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53DE1-BF50-424E-83B2-0C9DA0E3B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0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E13B40-169E-3120-B0BC-DEED57C47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" y="355256"/>
            <a:ext cx="11253460" cy="61474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EB3DD6-BD3E-AD3F-DD40-504DDA7320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22799"/>
          <a:stretch>
            <a:fillRect/>
          </a:stretch>
        </p:blipFill>
        <p:spPr>
          <a:xfrm>
            <a:off x="469270" y="355256"/>
            <a:ext cx="11248782" cy="28451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CFE6672-BC98-74C4-D710-544441C9CFEB}"/>
              </a:ext>
            </a:extLst>
          </p:cNvPr>
          <p:cNvSpPr/>
          <p:nvPr/>
        </p:nvSpPr>
        <p:spPr>
          <a:xfrm>
            <a:off x="469270" y="765543"/>
            <a:ext cx="11253460" cy="243485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218AC8-05A3-993F-FB73-A88267DA5B73}"/>
              </a:ext>
            </a:extLst>
          </p:cNvPr>
          <p:cNvSpPr/>
          <p:nvPr/>
        </p:nvSpPr>
        <p:spPr>
          <a:xfrm>
            <a:off x="2928935" y="355257"/>
            <a:ext cx="8789117" cy="37312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12DF7-62A6-95D3-7748-C40A29BF974A}"/>
              </a:ext>
            </a:extLst>
          </p:cNvPr>
          <p:cNvSpPr txBox="1"/>
          <p:nvPr/>
        </p:nvSpPr>
        <p:spPr>
          <a:xfrm>
            <a:off x="4365259" y="820716"/>
            <a:ext cx="41018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Every regulated enterprise needs AI governance. Do you have 118 Guardrails and LLM lineage?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CADF0-1375-8195-B34D-C6FFDCAA88DE}"/>
              </a:ext>
            </a:extLst>
          </p:cNvPr>
          <p:cNvSpPr txBox="1"/>
          <p:nvPr/>
        </p:nvSpPr>
        <p:spPr>
          <a:xfrm>
            <a:off x="4365259" y="1969662"/>
            <a:ext cx="6202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Govern. Audit.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06A656-5E16-F85B-A954-392A18C71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735" y="1138672"/>
            <a:ext cx="2935232" cy="2061727"/>
          </a:xfrm>
          <a:prstGeom prst="round2SameRect">
            <a:avLst>
              <a:gd name="adj1" fmla="val 6712"/>
              <a:gd name="adj2" fmla="val 0"/>
            </a:avLst>
          </a:prstGeom>
          <a:ln w="3175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D2F4B3-1F3C-89C2-502A-5F1B431EF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5259" y="2431327"/>
            <a:ext cx="3833351" cy="769072"/>
          </a:xfrm>
          <a:prstGeom prst="rect">
            <a:avLst/>
          </a:prstGeom>
        </p:spPr>
      </p:pic>
      <p:pic>
        <p:nvPicPr>
          <p:cNvPr id="19" name="Picture 18" descr="Seek Governance Intent Insights — ridge plots of coverage and confidence per intent over 1-30 day window">
            <a:extLst>
              <a:ext uri="{FF2B5EF4-FFF2-40B4-BE49-F238E27FC236}">
                <a16:creationId xmlns:a16="http://schemas.microsoft.com/office/drawing/2014/main" id="{05A20DA9-5E63-A3FB-E5E3-ED4822979C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320" y="1079137"/>
            <a:ext cx="1866541" cy="1514483"/>
          </a:xfrm>
          <a:prstGeom prst="round2SameRect">
            <a:avLst>
              <a:gd name="adj1" fmla="val 6473"/>
              <a:gd name="adj2" fmla="val 0"/>
            </a:avLst>
          </a:prstGeom>
          <a:ln w="3175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 descr="Seek Governance Documentation Insights — KB confidence / coverage gauges + Most Referenced Documents and URLs pie charts">
            <a:extLst>
              <a:ext uri="{FF2B5EF4-FFF2-40B4-BE49-F238E27FC236}">
                <a16:creationId xmlns:a16="http://schemas.microsoft.com/office/drawing/2014/main" id="{68CB7872-2DCE-24E4-CCC6-A81597C97CE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6180"/>
          <a:stretch>
            <a:fillRect/>
          </a:stretch>
        </p:blipFill>
        <p:spPr>
          <a:xfrm>
            <a:off x="110906" y="2431327"/>
            <a:ext cx="1755635" cy="769072"/>
          </a:xfrm>
          <a:prstGeom prst="round2SameRect">
            <a:avLst>
              <a:gd name="adj1" fmla="val 8946"/>
              <a:gd name="adj2" fmla="val 0"/>
            </a:avLst>
          </a:prstGeom>
          <a:ln w="3175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 descr="Seek Governance Semantic Insights — 9 hallucination forensics gauges plus Top Hallucinated Terms pie with click-to-allowlist">
            <a:extLst>
              <a:ext uri="{FF2B5EF4-FFF2-40B4-BE49-F238E27FC236}">
                <a16:creationId xmlns:a16="http://schemas.microsoft.com/office/drawing/2014/main" id="{BE91037F-0D4A-C964-021E-A7A32171C8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5049" y="1452266"/>
            <a:ext cx="2129510" cy="1748133"/>
          </a:xfrm>
          <a:prstGeom prst="round2SameRect">
            <a:avLst>
              <a:gd name="adj1" fmla="val 3760"/>
              <a:gd name="adj2" fmla="val 0"/>
            </a:avLst>
          </a:prstGeom>
          <a:ln w="3175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8266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368C-EDB6-1CB0-ECA8-9FE1491A7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DEB5C9-6AE3-A97E-5D3F-0B01736A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" t="3152" r="1408"/>
          <a:stretch>
            <a:fillRect/>
          </a:stretch>
        </p:blipFill>
        <p:spPr>
          <a:xfrm>
            <a:off x="208300" y="413806"/>
            <a:ext cx="11395667" cy="2940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E48F85-A4BB-788B-0F7E-2C4127DDE5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61720"/>
          <a:stretch>
            <a:fillRect/>
          </a:stretch>
        </p:blipFill>
        <p:spPr>
          <a:xfrm>
            <a:off x="208300" y="413807"/>
            <a:ext cx="11248782" cy="14107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D1B91E-0013-86BE-A3E4-77DCDB17E1D0}"/>
              </a:ext>
            </a:extLst>
          </p:cNvPr>
          <p:cNvSpPr/>
          <p:nvPr/>
        </p:nvSpPr>
        <p:spPr>
          <a:xfrm>
            <a:off x="208300" y="765543"/>
            <a:ext cx="11395667" cy="156542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2FF156-DCCA-A289-A16A-0BE5A82380E6}"/>
              </a:ext>
            </a:extLst>
          </p:cNvPr>
          <p:cNvSpPr/>
          <p:nvPr/>
        </p:nvSpPr>
        <p:spPr>
          <a:xfrm>
            <a:off x="2682241" y="413804"/>
            <a:ext cx="8921726" cy="348361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62B027-7BC3-8157-85A6-D6741E7A12E9}"/>
              </a:ext>
            </a:extLst>
          </p:cNvPr>
          <p:cNvSpPr txBox="1"/>
          <p:nvPr/>
        </p:nvSpPr>
        <p:spPr>
          <a:xfrm>
            <a:off x="4070618" y="843567"/>
            <a:ext cx="5103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 regulated enterprise needs AI governance. Do you have 118 Guardrails and LLM lineage?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DCD5AA-DCB5-F6F7-F77D-254C0E4460B1}"/>
              </a:ext>
            </a:extLst>
          </p:cNvPr>
          <p:cNvSpPr txBox="1"/>
          <p:nvPr/>
        </p:nvSpPr>
        <p:spPr>
          <a:xfrm>
            <a:off x="4070620" y="1554140"/>
            <a:ext cx="17483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Govern. Audit. </a:t>
            </a:r>
            <a:r>
              <a:rPr lang="en-US" sz="2000" b="1" dirty="0"/>
              <a:t>Deploy</a:t>
            </a:r>
            <a:r>
              <a:rPr lang="en-US" sz="2000" dirty="0"/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588F692-0144-8F4B-BDB3-5492682C1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837" y="1567923"/>
            <a:ext cx="3661039" cy="734502"/>
          </a:xfrm>
          <a:prstGeom prst="rect">
            <a:avLst/>
          </a:prstGeom>
        </p:spPr>
      </p:pic>
      <p:pic>
        <p:nvPicPr>
          <p:cNvPr id="19" name="Picture 18" descr="Seek Governance Intent Insights — ridge plots of coverage and confidence per intent over 1-30 day window">
            <a:extLst>
              <a:ext uri="{FF2B5EF4-FFF2-40B4-BE49-F238E27FC236}">
                <a16:creationId xmlns:a16="http://schemas.microsoft.com/office/drawing/2014/main" id="{7D7082ED-164D-19A9-6015-D05905E5B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20" y="816486"/>
            <a:ext cx="1866541" cy="1514483"/>
          </a:xfrm>
          <a:prstGeom prst="round2SameRect">
            <a:avLst>
              <a:gd name="adj1" fmla="val 6473"/>
              <a:gd name="adj2" fmla="val 0"/>
            </a:avLst>
          </a:prstGeom>
          <a:ln w="3175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 descr="Seek Governance Documentation Insights — KB confidence / coverage gauges + Most Referenced Documents and URLs pie charts">
            <a:extLst>
              <a:ext uri="{FF2B5EF4-FFF2-40B4-BE49-F238E27FC236}">
                <a16:creationId xmlns:a16="http://schemas.microsoft.com/office/drawing/2014/main" id="{04B74304-D527-B185-238B-9CD44821EB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6180"/>
          <a:stretch>
            <a:fillRect/>
          </a:stretch>
        </p:blipFill>
        <p:spPr>
          <a:xfrm>
            <a:off x="110906" y="1567923"/>
            <a:ext cx="1755635" cy="769072"/>
          </a:xfrm>
          <a:prstGeom prst="round2SameRect">
            <a:avLst>
              <a:gd name="adj1" fmla="val 8946"/>
              <a:gd name="adj2" fmla="val 0"/>
            </a:avLst>
          </a:prstGeom>
          <a:ln w="3175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 descr="Seek Governance Semantic Insights — 9 hallucination forensics gauges plus Top Hallucinated Terms pie with click-to-allowlist">
            <a:extLst>
              <a:ext uri="{FF2B5EF4-FFF2-40B4-BE49-F238E27FC236}">
                <a16:creationId xmlns:a16="http://schemas.microsoft.com/office/drawing/2014/main" id="{B1AD3578-FCC0-64A3-C3F6-361565B1B57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4824"/>
          <a:stretch>
            <a:fillRect/>
          </a:stretch>
        </p:blipFill>
        <p:spPr>
          <a:xfrm>
            <a:off x="1805049" y="1016796"/>
            <a:ext cx="2129510" cy="1314173"/>
          </a:xfrm>
          <a:prstGeom prst="round2SameRect">
            <a:avLst>
              <a:gd name="adj1" fmla="val 3760"/>
              <a:gd name="adj2" fmla="val 0"/>
            </a:avLst>
          </a:prstGeom>
          <a:ln w="3175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E038DB4-68BC-8C42-CE72-902C0EDDDD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876" y="866665"/>
            <a:ext cx="2084696" cy="1464305"/>
          </a:xfrm>
          <a:prstGeom prst="round2SameRect">
            <a:avLst>
              <a:gd name="adj1" fmla="val 6712"/>
              <a:gd name="adj2" fmla="val 0"/>
            </a:avLst>
          </a:prstGeom>
          <a:ln w="3175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6270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A15A91-1A16-EBC8-9258-4E1116A9A2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2" t="35466" r="80982"/>
          <a:stretch>
            <a:fillRect/>
          </a:stretch>
        </p:blipFill>
        <p:spPr>
          <a:xfrm>
            <a:off x="3079223" y="173685"/>
            <a:ext cx="6033553" cy="651062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B1E21A-F1FC-F618-2561-E1F3350A70E7}"/>
              </a:ext>
            </a:extLst>
          </p:cNvPr>
          <p:cNvSpPr/>
          <p:nvPr/>
        </p:nvSpPr>
        <p:spPr>
          <a:xfrm>
            <a:off x="3079223" y="173685"/>
            <a:ext cx="6033553" cy="6510629"/>
          </a:xfrm>
          <a:prstGeom prst="rect">
            <a:avLst/>
          </a:prstGeom>
          <a:solidFill>
            <a:srgbClr val="0A12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7AD51-31E2-5707-0037-F07F1A6A3A7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30621" y="1377083"/>
            <a:ext cx="3730758" cy="41038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DF5559-A184-4C05-8718-1CE7B4F675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233318" y="-312236"/>
            <a:ext cx="4572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21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44</Words>
  <Application>Microsoft Macintosh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Open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lawrence patrizio</dc:creator>
  <cp:lastModifiedBy>lawrence patrizio</cp:lastModifiedBy>
  <cp:revision>1</cp:revision>
  <dcterms:created xsi:type="dcterms:W3CDTF">2026-05-11T10:57:38Z</dcterms:created>
  <dcterms:modified xsi:type="dcterms:W3CDTF">2026-05-11T11:58:50Z</dcterms:modified>
</cp:coreProperties>
</file>